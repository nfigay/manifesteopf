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Avenir Next Demi Bold"/>
          <a:ea typeface="Avenir Next Demi Bold"/>
          <a:cs typeface="Avenir Next Demi 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 Next Demi Bold"/>
          <a:ea typeface="Avenir Next Demi Bold"/>
          <a:cs typeface="Avenir Next Demi 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 Next Demi Bold"/>
          <a:ea typeface="Avenir Next Demi Bold"/>
          <a:cs typeface="Avenir Next Demi 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Avenir Next Demi Bold"/>
          <a:ea typeface="Avenir Next Demi Bold"/>
          <a:cs typeface="Avenir Next Demi 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re">
    <p:spTree>
      <p:nvGrpSpPr>
        <p:cNvPr id="1" name=""/>
        <p:cNvGrpSpPr/>
        <p:nvPr/>
      </p:nvGrpSpPr>
      <p:grpSpPr>
        <a:xfrm>
          <a:off x="0" y="0"/>
          <a:ext cx="0" cy="0"/>
          <a:chOff x="0" y="0"/>
          <a:chExt cx="0" cy="0"/>
        </a:xfrm>
      </p:grpSpPr>
      <p:sp>
        <p:nvSpPr>
          <p:cNvPr id="11" name="Auteur et date"/>
          <p:cNvSpPr txBox="1"/>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pc="-29" sz="2940">
                <a:latin typeface="Avenir Next Medium"/>
                <a:ea typeface="Avenir Next Medium"/>
                <a:cs typeface="Avenir Next Medium"/>
                <a:sym typeface="Avenir Next Medium"/>
              </a:defRPr>
            </a:lvl1pPr>
          </a:lstStyle>
          <a:p>
            <a:pPr/>
            <a:r>
              <a:t>Auteur et date</a:t>
            </a:r>
          </a:p>
        </p:txBody>
      </p:sp>
      <p:sp>
        <p:nvSpPr>
          <p:cNvPr id="12" name="Titre de la présentation"/>
          <p:cNvSpPr txBox="1"/>
          <p:nvPr>
            <p:ph type="title" hasCustomPrompt="1"/>
          </p:nvPr>
        </p:nvSpPr>
        <p:spPr>
          <a:xfrm>
            <a:off x="1219200" y="3543300"/>
            <a:ext cx="21945600" cy="4267200"/>
          </a:xfrm>
          <a:prstGeom prst="rect">
            <a:avLst/>
          </a:prstGeom>
        </p:spPr>
        <p:txBody>
          <a:bodyPr anchor="b"/>
          <a:lstStyle>
            <a:lvl1pPr>
              <a:defRPr spc="-128" sz="12800"/>
            </a:lvl1pPr>
          </a:lstStyle>
          <a:p>
            <a:pPr/>
            <a:r>
              <a:t>Titre de la présentation</a:t>
            </a:r>
          </a:p>
        </p:txBody>
      </p:sp>
      <p:sp>
        <p:nvSpPr>
          <p:cNvPr id="13" name="Texte niveau 1…"/>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59" sz="6000">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latin typeface="Avenir Next Demi Bold"/>
                <a:ea typeface="Avenir Next Demi Bold"/>
                <a:cs typeface="Avenir Next Demi Bold"/>
                <a:sym typeface="Avenir Next Demi Bold"/>
              </a:defRPr>
            </a:lvl5pPr>
          </a:lstStyle>
          <a:p>
            <a:pPr/>
            <a:r>
              <a:t>Sous-titre de la présentation</a:t>
            </a:r>
          </a:p>
          <a:p>
            <a:pPr lvl="1"/>
            <a:r>
              <a:t/>
            </a:r>
          </a:p>
          <a:p>
            <a:pPr lvl="2"/>
            <a:r>
              <a:t/>
            </a:r>
          </a:p>
          <a:p>
            <a:pPr lvl="3"/>
            <a:r>
              <a:t/>
            </a:r>
          </a:p>
          <a:p>
            <a:pPr lvl="4"/>
            <a:r>
              <a:t/>
            </a:r>
          </a:p>
        </p:txBody>
      </p:sp>
      <p:sp>
        <p:nvSpPr>
          <p:cNvPr id="14"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re et photo">
    <p:spTree>
      <p:nvGrpSpPr>
        <p:cNvPr id="1" name=""/>
        <p:cNvGrpSpPr/>
        <p:nvPr/>
      </p:nvGrpSpPr>
      <p:grpSpPr>
        <a:xfrm>
          <a:off x="0" y="0"/>
          <a:ext cx="0" cy="0"/>
          <a:chOff x="0" y="0"/>
          <a:chExt cx="0" cy="0"/>
        </a:xfrm>
      </p:grpSpPr>
      <p:sp>
        <p:nvSpPr>
          <p:cNvPr id="21" name="740519873_3318x2212.jpg"/>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re de la présentation"/>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Titre de la présentation</a:t>
            </a:r>
          </a:p>
        </p:txBody>
      </p:sp>
      <p:sp>
        <p:nvSpPr>
          <p:cNvPr id="23" name="Texte niveau 1…"/>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5pPr>
          </a:lstStyle>
          <a:p>
            <a:pPr/>
            <a:r>
              <a:t>Sous-titre de la présentation</a:t>
            </a:r>
          </a:p>
          <a:p>
            <a:pPr lvl="1"/>
            <a:r>
              <a:t/>
            </a:r>
          </a:p>
          <a:p>
            <a:pPr lvl="2"/>
            <a:r>
              <a:t/>
            </a:r>
          </a:p>
          <a:p>
            <a:pPr lvl="3"/>
            <a:r>
              <a:t/>
            </a:r>
          </a:p>
          <a:p>
            <a:pPr lvl="4"/>
            <a:r>
              <a:t/>
            </a:r>
          </a:p>
        </p:txBody>
      </p:sp>
      <p:sp>
        <p:nvSpPr>
          <p:cNvPr id="24" name="Auteur et date"/>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29" sz="2940">
                <a:solidFill>
                  <a:srgbClr val="FFFFFF"/>
                </a:solidFill>
                <a:latin typeface="Avenir Next Medium"/>
                <a:ea typeface="Avenir Next Medium"/>
                <a:cs typeface="Avenir Next Medium"/>
                <a:sym typeface="Avenir Next Medium"/>
              </a:defRPr>
            </a:lvl1pPr>
          </a:lstStyle>
          <a:p>
            <a:pPr/>
            <a:r>
              <a:t>Auteur et date</a:t>
            </a:r>
          </a:p>
        </p:txBody>
      </p:sp>
      <p:sp>
        <p:nvSpPr>
          <p:cNvPr id="25" name="Numéro de diapositive"/>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utre titre et photo">
    <p:spTree>
      <p:nvGrpSpPr>
        <p:cNvPr id="1" name=""/>
        <p:cNvGrpSpPr/>
        <p:nvPr/>
      </p:nvGrpSpPr>
      <p:grpSpPr>
        <a:xfrm>
          <a:off x="0" y="0"/>
          <a:ext cx="0" cy="0"/>
          <a:chOff x="0" y="0"/>
          <a:chExt cx="0" cy="0"/>
        </a:xfrm>
      </p:grpSpPr>
      <p:sp>
        <p:nvSpPr>
          <p:cNvPr id="32" name="Titre de diapositive"/>
          <p:cNvSpPr txBox="1"/>
          <p:nvPr>
            <p:ph type="title" hasCustomPrompt="1"/>
          </p:nvPr>
        </p:nvSpPr>
        <p:spPr>
          <a:xfrm>
            <a:off x="1215495" y="4585102"/>
            <a:ext cx="9757338" cy="2540001"/>
          </a:xfrm>
          <a:prstGeom prst="rect">
            <a:avLst/>
          </a:prstGeom>
        </p:spPr>
        <p:txBody>
          <a:bodyPr anchor="b"/>
          <a:lstStyle/>
          <a:p>
            <a:pPr/>
            <a:r>
              <a:t>Titre de diapositive</a:t>
            </a:r>
          </a:p>
        </p:txBody>
      </p:sp>
      <p:sp>
        <p:nvSpPr>
          <p:cNvPr id="33" name="Image"/>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Texte niveau 1…"/>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Sous-titre de diapositive</a:t>
            </a:r>
          </a:p>
          <a:p>
            <a:pPr lvl="1"/>
            <a:r>
              <a:t/>
            </a:r>
          </a:p>
          <a:p>
            <a:pPr lvl="2"/>
            <a:r>
              <a:t/>
            </a:r>
          </a:p>
          <a:p>
            <a:pPr lvl="3"/>
            <a:r>
              <a:t/>
            </a:r>
          </a:p>
          <a:p>
            <a:pPr lvl="4"/>
            <a:r>
              <a:t/>
            </a:r>
          </a:p>
        </p:txBody>
      </p:sp>
      <p:sp>
        <p:nvSpPr>
          <p:cNvPr id="3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re et puces">
    <p:spTree>
      <p:nvGrpSpPr>
        <p:cNvPr id="1" name=""/>
        <p:cNvGrpSpPr/>
        <p:nvPr/>
      </p:nvGrpSpPr>
      <p:grpSpPr>
        <a:xfrm>
          <a:off x="0" y="0"/>
          <a:ext cx="0" cy="0"/>
          <a:chOff x="0" y="0"/>
          <a:chExt cx="0" cy="0"/>
        </a:xfrm>
      </p:grpSpPr>
      <p:sp>
        <p:nvSpPr>
          <p:cNvPr id="42" name="Titre de diapositive"/>
          <p:cNvSpPr txBox="1"/>
          <p:nvPr>
            <p:ph type="title" hasCustomPrompt="1"/>
          </p:nvPr>
        </p:nvSpPr>
        <p:spPr>
          <a:prstGeom prst="rect">
            <a:avLst/>
          </a:prstGeom>
        </p:spPr>
        <p:txBody>
          <a:bodyPr/>
          <a:lstStyle/>
          <a:p>
            <a:pPr/>
            <a:r>
              <a:t>Titre de diapositive</a:t>
            </a:r>
          </a:p>
        </p:txBody>
      </p:sp>
      <p:sp>
        <p:nvSpPr>
          <p:cNvPr id="43" name="Texte niveau 1…"/>
          <p:cNvSpPr txBox="1"/>
          <p:nvPr>
            <p:ph type="body" idx="1" hasCustomPrompt="1"/>
          </p:nvPr>
        </p:nvSpPr>
        <p:spPr>
          <a:prstGeom prst="rect">
            <a:avLst/>
          </a:prstGeom>
        </p:spPr>
        <p:txBody>
          <a:bodyPr/>
          <a:lstStyle/>
          <a:p>
            <a:pPr/>
            <a:r>
              <a:t>Texte de puce de diapositive</a:t>
            </a:r>
          </a:p>
          <a:p>
            <a:pPr lvl="1"/>
            <a:r>
              <a:t/>
            </a:r>
          </a:p>
          <a:p>
            <a:pPr lvl="2"/>
            <a:r>
              <a:t/>
            </a:r>
          </a:p>
          <a:p>
            <a:pPr lvl="3"/>
            <a:r>
              <a:t/>
            </a:r>
          </a:p>
          <a:p>
            <a:pPr lvl="4"/>
            <a:r>
              <a:t/>
            </a:r>
          </a:p>
        </p:txBody>
      </p:sp>
      <p:sp>
        <p:nvSpPr>
          <p:cNvPr id="44" name="Sous-titre de diapositive"/>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Sous-titre de diapositive</a:t>
            </a:r>
          </a:p>
        </p:txBody>
      </p:sp>
      <p:sp>
        <p:nvSpPr>
          <p:cNvPr id="4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uces">
    <p:spTree>
      <p:nvGrpSpPr>
        <p:cNvPr id="1" name=""/>
        <p:cNvGrpSpPr/>
        <p:nvPr/>
      </p:nvGrpSpPr>
      <p:grpSpPr>
        <a:xfrm>
          <a:off x="0" y="0"/>
          <a:ext cx="0" cy="0"/>
          <a:chOff x="0" y="0"/>
          <a:chExt cx="0" cy="0"/>
        </a:xfrm>
      </p:grpSpPr>
      <p:sp>
        <p:nvSpPr>
          <p:cNvPr id="52" name="Texte niveau 1…"/>
          <p:cNvSpPr txBox="1"/>
          <p:nvPr>
            <p:ph type="body" idx="1" hasCustomPrompt="1"/>
          </p:nvPr>
        </p:nvSpPr>
        <p:spPr>
          <a:xfrm>
            <a:off x="1219200" y="4013200"/>
            <a:ext cx="21945600" cy="8487148"/>
          </a:xfrm>
          <a:prstGeom prst="rect">
            <a:avLst/>
          </a:prstGeom>
        </p:spPr>
        <p:txBody>
          <a:bodyPr numCol="2" spcCol="2558384"/>
          <a:lstStyle/>
          <a:p>
            <a:pPr/>
            <a:r>
              <a:t>Texte de puce de diapositive</a:t>
            </a:r>
          </a:p>
          <a:p>
            <a:pPr lvl="1"/>
            <a:r>
              <a:t/>
            </a:r>
          </a:p>
          <a:p>
            <a:pPr lvl="2"/>
            <a:r>
              <a:t/>
            </a:r>
          </a:p>
          <a:p>
            <a:pPr lvl="3"/>
            <a:r>
              <a:t/>
            </a:r>
          </a:p>
          <a:p>
            <a:pPr lvl="4"/>
            <a:r>
              <a:t/>
            </a:r>
          </a:p>
        </p:txBody>
      </p:sp>
      <p:sp>
        <p:nvSpPr>
          <p:cNvPr id="53"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re, puces et photo">
    <p:spTree>
      <p:nvGrpSpPr>
        <p:cNvPr id="1" name=""/>
        <p:cNvGrpSpPr/>
        <p:nvPr/>
      </p:nvGrpSpPr>
      <p:grpSpPr>
        <a:xfrm>
          <a:off x="0" y="0"/>
          <a:ext cx="0" cy="0"/>
          <a:chOff x="0" y="0"/>
          <a:chExt cx="0" cy="0"/>
        </a:xfrm>
      </p:grpSpPr>
      <p:sp>
        <p:nvSpPr>
          <p:cNvPr id="60" name="Titre de diapositive"/>
          <p:cNvSpPr txBox="1"/>
          <p:nvPr>
            <p:ph type="title" hasCustomPrompt="1"/>
          </p:nvPr>
        </p:nvSpPr>
        <p:spPr>
          <a:xfrm>
            <a:off x="1219200" y="774700"/>
            <a:ext cx="9753600" cy="1600200"/>
          </a:xfrm>
          <a:prstGeom prst="rect">
            <a:avLst/>
          </a:prstGeom>
        </p:spPr>
        <p:txBody>
          <a:bodyPr/>
          <a:lstStyle/>
          <a:p>
            <a:pPr/>
            <a:r>
              <a:t>Titre de diapositive</a:t>
            </a:r>
          </a:p>
        </p:txBody>
      </p:sp>
      <p:sp>
        <p:nvSpPr>
          <p:cNvPr id="61" name="Image"/>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Sous-titre de diapositive"/>
          <p:cNvSpPr txBox="1"/>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Sous-titre de diapositive</a:t>
            </a:r>
          </a:p>
        </p:txBody>
      </p:sp>
      <p:sp>
        <p:nvSpPr>
          <p:cNvPr id="63" name="Texte niveau 1…"/>
          <p:cNvSpPr txBox="1"/>
          <p:nvPr>
            <p:ph type="body" sz="half" idx="1" hasCustomPrompt="1"/>
          </p:nvPr>
        </p:nvSpPr>
        <p:spPr>
          <a:xfrm>
            <a:off x="1219200" y="4023221"/>
            <a:ext cx="9757569" cy="8384679"/>
          </a:xfrm>
          <a:prstGeom prst="rect">
            <a:avLst/>
          </a:prstGeom>
        </p:spPr>
        <p:txBody>
          <a:bodyPr/>
          <a:lstStyle/>
          <a:p>
            <a:pPr/>
            <a:r>
              <a:t>Texte de puce de diapositive</a:t>
            </a:r>
          </a:p>
          <a:p>
            <a:pPr lvl="1"/>
            <a:r>
              <a:t/>
            </a:r>
          </a:p>
          <a:p>
            <a:pPr lvl="2"/>
            <a:r>
              <a:t/>
            </a:r>
          </a:p>
          <a:p>
            <a:pPr lvl="3"/>
            <a:r>
              <a:t/>
            </a:r>
          </a:p>
          <a:p>
            <a:pPr lvl="4"/>
            <a:r>
              <a:t/>
            </a:r>
          </a:p>
        </p:txBody>
      </p:sp>
      <p:sp>
        <p:nvSpPr>
          <p:cNvPr id="64" name="Numéro de diapositive"/>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Titre de section"/>
          <p:cNvSpPr txBox="1"/>
          <p:nvPr>
            <p:ph type="title" hasCustomPrompt="1"/>
          </p:nvPr>
        </p:nvSpPr>
        <p:spPr>
          <a:xfrm>
            <a:off x="1219200" y="3242270"/>
            <a:ext cx="21945600" cy="6604001"/>
          </a:xfrm>
          <a:prstGeom prst="rect">
            <a:avLst/>
          </a:prstGeom>
        </p:spPr>
        <p:txBody>
          <a:bodyPr anchor="ctr"/>
          <a:lstStyle>
            <a:lvl1pPr>
              <a:defRPr spc="0" sz="12800"/>
            </a:lvl1pPr>
          </a:lstStyle>
          <a:p>
            <a:pPr/>
            <a:r>
              <a:t>Titre de section</a:t>
            </a:r>
          </a:p>
        </p:txBody>
      </p:sp>
      <p:sp>
        <p:nvSpPr>
          <p:cNvPr id="72"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re seulement">
    <p:spTree>
      <p:nvGrpSpPr>
        <p:cNvPr id="1" name=""/>
        <p:cNvGrpSpPr/>
        <p:nvPr/>
      </p:nvGrpSpPr>
      <p:grpSpPr>
        <a:xfrm>
          <a:off x="0" y="0"/>
          <a:ext cx="0" cy="0"/>
          <a:chOff x="0" y="0"/>
          <a:chExt cx="0" cy="0"/>
        </a:xfrm>
      </p:grpSpPr>
      <p:sp>
        <p:nvSpPr>
          <p:cNvPr id="79" name="Titre de diapositive"/>
          <p:cNvSpPr txBox="1"/>
          <p:nvPr>
            <p:ph type="title" hasCustomPrompt="1"/>
          </p:nvPr>
        </p:nvSpPr>
        <p:spPr>
          <a:prstGeom prst="rect">
            <a:avLst/>
          </a:prstGeom>
        </p:spPr>
        <p:txBody>
          <a:bodyPr/>
          <a:lstStyle/>
          <a:p>
            <a:pPr/>
            <a:r>
              <a:t>Titre de diapositive</a:t>
            </a:r>
          </a:p>
        </p:txBody>
      </p:sp>
      <p:sp>
        <p:nvSpPr>
          <p:cNvPr id="80" name="Sous-titre de diapositive"/>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Sous-titre de diapositive</a:t>
            </a:r>
          </a:p>
        </p:txBody>
      </p:sp>
      <p:sp>
        <p:nvSpPr>
          <p:cNvPr id="81"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rdre du jour">
    <p:spTree>
      <p:nvGrpSpPr>
        <p:cNvPr id="1" name=""/>
        <p:cNvGrpSpPr/>
        <p:nvPr/>
      </p:nvGrpSpPr>
      <p:grpSpPr>
        <a:xfrm>
          <a:off x="0" y="0"/>
          <a:ext cx="0" cy="0"/>
          <a:chOff x="0" y="0"/>
          <a:chExt cx="0" cy="0"/>
        </a:xfrm>
      </p:grpSpPr>
      <p:sp>
        <p:nvSpPr>
          <p:cNvPr id="88" name="Titre de l’ordre du jour"/>
          <p:cNvSpPr txBox="1"/>
          <p:nvPr>
            <p:ph type="title" hasCustomPrompt="1"/>
          </p:nvPr>
        </p:nvSpPr>
        <p:spPr>
          <a:prstGeom prst="rect">
            <a:avLst/>
          </a:prstGeom>
        </p:spPr>
        <p:txBody>
          <a:bodyPr/>
          <a:lstStyle/>
          <a:p>
            <a:pPr/>
            <a:r>
              <a:t>Titre de l’ordre du jour</a:t>
            </a:r>
          </a:p>
        </p:txBody>
      </p:sp>
      <p:sp>
        <p:nvSpPr>
          <p:cNvPr id="89" name="Texte niveau 1…"/>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Rubriques de l’ordre du jour</a:t>
            </a:r>
          </a:p>
          <a:p>
            <a:pPr lvl="1"/>
            <a:r>
              <a:t/>
            </a:r>
          </a:p>
          <a:p>
            <a:pPr lvl="2"/>
            <a:r>
              <a:t/>
            </a:r>
          </a:p>
          <a:p>
            <a:pPr lvl="3"/>
            <a:r>
              <a:t/>
            </a:r>
          </a:p>
          <a:p>
            <a:pPr lvl="4"/>
            <a:r>
              <a:t/>
            </a:r>
          </a:p>
        </p:txBody>
      </p:sp>
      <p:sp>
        <p:nvSpPr>
          <p:cNvPr id="90" name="Sous-titre de l’ordre du jour"/>
          <p:cNvSpPr txBox="1"/>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Sous-titre de l’ordre du jour</a:t>
            </a:r>
          </a:p>
        </p:txBody>
      </p:sp>
      <p:sp>
        <p:nvSpPr>
          <p:cNvPr id="91"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éclaration">
    <p:spTree>
      <p:nvGrpSpPr>
        <p:cNvPr id="1" name=""/>
        <p:cNvGrpSpPr/>
        <p:nvPr/>
      </p:nvGrpSpPr>
      <p:grpSpPr>
        <a:xfrm>
          <a:off x="0" y="0"/>
          <a:ext cx="0" cy="0"/>
          <a:chOff x="0" y="0"/>
          <a:chExt cx="0" cy="0"/>
        </a:xfrm>
      </p:grpSpPr>
      <p:sp>
        <p:nvSpPr>
          <p:cNvPr id="98" name="Texte niveau 1…"/>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Déclaration</a:t>
            </a:r>
          </a:p>
          <a:p>
            <a:pPr lvl="1"/>
            <a:r>
              <a:t/>
            </a:r>
          </a:p>
          <a:p>
            <a:pPr lvl="2"/>
            <a:r>
              <a:t/>
            </a:r>
          </a:p>
          <a:p>
            <a:pPr lvl="3"/>
            <a:r>
              <a:t/>
            </a:r>
          </a:p>
          <a:p>
            <a:pPr lvl="4"/>
            <a:r>
              <a:t/>
            </a:r>
          </a:p>
        </p:txBody>
      </p:sp>
      <p:sp>
        <p:nvSpPr>
          <p:cNvPr id="9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ait important">
    <p:spTree>
      <p:nvGrpSpPr>
        <p:cNvPr id="1" name=""/>
        <p:cNvGrpSpPr/>
        <p:nvPr/>
      </p:nvGrpSpPr>
      <p:grpSpPr>
        <a:xfrm>
          <a:off x="0" y="0"/>
          <a:ext cx="0" cy="0"/>
          <a:chOff x="0" y="0"/>
          <a:chExt cx="0" cy="0"/>
        </a:xfrm>
      </p:grpSpPr>
      <p:sp>
        <p:nvSpPr>
          <p:cNvPr id="106" name="Données clés"/>
          <p:cNvSpPr txBox="1"/>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Données clés</a:t>
            </a:r>
          </a:p>
        </p:txBody>
      </p:sp>
      <p:sp>
        <p:nvSpPr>
          <p:cNvPr id="107" name="Texte niveau 1…"/>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100 %</a:t>
            </a:r>
          </a:p>
          <a:p>
            <a:pPr lvl="1"/>
            <a:r>
              <a:t/>
            </a:r>
          </a:p>
          <a:p>
            <a:pPr lvl="2"/>
            <a:r>
              <a:t/>
            </a:r>
          </a:p>
          <a:p>
            <a:pPr lvl="3"/>
            <a:r>
              <a:t/>
            </a:r>
          </a:p>
          <a:p>
            <a:pPr lvl="4"/>
            <a:r>
              <a:t/>
            </a:r>
          </a:p>
        </p:txBody>
      </p:sp>
      <p:sp>
        <p:nvSpPr>
          <p:cNvPr id="10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ion">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1219200" y="11100053"/>
            <a:ext cx="21945602" cy="832613"/>
          </a:xfrm>
          <a:prstGeom prst="rect">
            <a:avLst/>
          </a:prstGeom>
        </p:spPr>
        <p:txBody>
          <a:bodyPr anchor="ct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Attribution</a:t>
            </a:r>
          </a:p>
        </p:txBody>
      </p:sp>
      <p:sp>
        <p:nvSpPr>
          <p:cNvPr id="116" name="Texte niveau 1…"/>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pPr/>
            <a:r>
              <a:t>« Citation notable »</a:t>
            </a:r>
          </a:p>
          <a:p>
            <a:pPr lvl="1"/>
            <a:r>
              <a:t/>
            </a:r>
          </a:p>
          <a:p>
            <a:pPr lvl="2"/>
            <a:r>
              <a:t/>
            </a:r>
          </a:p>
          <a:p>
            <a:pPr lvl="3"/>
            <a:r>
              <a:t/>
            </a:r>
          </a:p>
          <a:p>
            <a:pPr lvl="4"/>
            <a:r>
              <a:t/>
            </a:r>
          </a:p>
        </p:txBody>
      </p:sp>
      <p:sp>
        <p:nvSpPr>
          <p:cNvPr id="117"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photos">
    <p:spTree>
      <p:nvGrpSpPr>
        <p:cNvPr id="1" name=""/>
        <p:cNvGrpSpPr/>
        <p:nvPr/>
      </p:nvGrpSpPr>
      <p:grpSpPr>
        <a:xfrm>
          <a:off x="0" y="0"/>
          <a:ext cx="0" cy="0"/>
          <a:chOff x="0" y="0"/>
          <a:chExt cx="0" cy="0"/>
        </a:xfrm>
      </p:grpSpPr>
      <p:sp>
        <p:nvSpPr>
          <p:cNvPr id="124" name="941297804_1296x1457.jpg"/>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25" name="915009552_2264x1509.jpg"/>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26" name="740519873_3318x2212.jpg"/>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27"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740519873_3318x2212.jpg"/>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35"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ierge">
    <p:spTree>
      <p:nvGrpSpPr>
        <p:cNvPr id="1" name=""/>
        <p:cNvGrpSpPr/>
        <p:nvPr/>
      </p:nvGrpSpPr>
      <p:grpSpPr>
        <a:xfrm>
          <a:off x="0" y="0"/>
          <a:ext cx="0" cy="0"/>
          <a:chOff x="0" y="0"/>
          <a:chExt cx="0" cy="0"/>
        </a:xfrm>
      </p:grpSpPr>
      <p:sp>
        <p:nvSpPr>
          <p:cNvPr id="142" name="Numéro de diapositive"/>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re de diapositive"/>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Titre de diapositive</a:t>
            </a:r>
          </a:p>
        </p:txBody>
      </p:sp>
      <p:sp>
        <p:nvSpPr>
          <p:cNvPr id="3" name="Texte niveau 1…"/>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Texte de puce de diapositive</a:t>
            </a:r>
          </a:p>
          <a:p>
            <a:pPr lvl="1"/>
            <a:r>
              <a:t/>
            </a:r>
          </a:p>
          <a:p>
            <a:pPr lvl="2"/>
            <a:r>
              <a:t/>
            </a:r>
          </a:p>
          <a:p>
            <a:pPr lvl="3"/>
            <a:r>
              <a:t/>
            </a:r>
          </a:p>
          <a:p>
            <a:pPr lvl="4"/>
            <a:r>
              <a:t/>
            </a:r>
          </a:p>
        </p:txBody>
      </p:sp>
      <p:sp>
        <p:nvSpPr>
          <p:cNvPr id="4" name="Numéro de diapositive"/>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defTabSz="584200">
              <a:lnSpc>
                <a:spcPct val="100000"/>
              </a:lnSpc>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Auteur et date"/>
          <p:cNvSpPr txBox="1"/>
          <p:nvPr>
            <p:ph type="body" idx="21"/>
          </p:nvPr>
        </p:nvSpPr>
        <p:spPr>
          <a:prstGeom prst="rect">
            <a:avLst/>
          </a:prstGeom>
        </p:spPr>
        <p:txBody>
          <a:bodyPr/>
          <a:lstStyle/>
          <a:p>
            <a:pPr/>
          </a:p>
        </p:txBody>
      </p:sp>
      <p:sp>
        <p:nvSpPr>
          <p:cNvPr id="152" name="Consolidation besoins capacitaires de OPF"/>
          <p:cNvSpPr txBox="1"/>
          <p:nvPr>
            <p:ph type="ctrTitle"/>
          </p:nvPr>
        </p:nvSpPr>
        <p:spPr>
          <a:prstGeom prst="rect">
            <a:avLst/>
          </a:prstGeom>
        </p:spPr>
        <p:txBody>
          <a:bodyPr/>
          <a:lstStyle>
            <a:lvl1pPr defTabSz="2292095">
              <a:defRPr spc="-120" sz="12032"/>
            </a:lvl1pPr>
          </a:lstStyle>
          <a:p>
            <a:pPr/>
            <a:r>
              <a:t>Consolidation besoins capacitaires de OPF</a:t>
            </a:r>
          </a:p>
        </p:txBody>
      </p:sp>
      <p:sp>
        <p:nvSpPr>
          <p:cNvPr id="153" name="Suite aux présentations de chaque partenaire"/>
          <p:cNvSpPr txBox="1"/>
          <p:nvPr>
            <p:ph type="subTitle" sz="quarter" idx="1"/>
          </p:nvPr>
        </p:nvSpPr>
        <p:spPr>
          <a:prstGeom prst="rect">
            <a:avLst/>
          </a:prstGeom>
        </p:spPr>
        <p:txBody>
          <a:bodyPr/>
          <a:lstStyle/>
          <a:p>
            <a:pPr/>
            <a:r>
              <a:t>Suite aux présentations de chaque partenaire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Ce que nous avons construit"/>
          <p:cNvSpPr txBox="1"/>
          <p:nvPr>
            <p:ph type="title"/>
          </p:nvPr>
        </p:nvSpPr>
        <p:spPr>
          <a:prstGeom prst="rect">
            <a:avLst/>
          </a:prstGeom>
        </p:spPr>
        <p:txBody>
          <a:bodyPr/>
          <a:lstStyle/>
          <a:p>
            <a:pPr/>
            <a:r>
              <a:t>Ce que nous avons construit</a:t>
            </a:r>
          </a:p>
        </p:txBody>
      </p:sp>
      <p:sp>
        <p:nvSpPr>
          <p:cNvPr id="156" name="Manifeste: document et carte visuelle mettant en avant 3 sphères (EA, KM et Interpreunariat)…"/>
          <p:cNvSpPr txBox="1"/>
          <p:nvPr>
            <p:ph type="body" idx="1"/>
          </p:nvPr>
        </p:nvSpPr>
        <p:spPr>
          <a:xfrm>
            <a:off x="1219199" y="2533894"/>
            <a:ext cx="21948578" cy="9962906"/>
          </a:xfrm>
          <a:prstGeom prst="rect">
            <a:avLst/>
          </a:prstGeom>
        </p:spPr>
        <p:txBody>
          <a:bodyPr/>
          <a:lstStyle/>
          <a:p>
            <a:pPr marL="316737" indent="-316737" defTabSz="1414236">
              <a:spcBef>
                <a:spcPts val="1300"/>
              </a:spcBef>
              <a:defRPr sz="2551"/>
            </a:pPr>
            <a:r>
              <a:t>Manifeste: document et carte visuelle mettant en avant 3 sphères (EA, KM et Interpreunariat)</a:t>
            </a:r>
          </a:p>
          <a:p>
            <a:pPr marL="316737" indent="-316737" defTabSz="1414236">
              <a:spcBef>
                <a:spcPts val="1300"/>
              </a:spcBef>
              <a:defRPr sz="2551"/>
            </a:pPr>
            <a:r>
              <a:t>Description d’une ruche d’expert</a:t>
            </a:r>
          </a:p>
          <a:p>
            <a:pPr marL="316737" indent="-316737" defTabSz="1414236">
              <a:spcBef>
                <a:spcPts val="1300"/>
              </a:spcBef>
              <a:defRPr sz="2551"/>
            </a:pPr>
            <a:r>
              <a:t>Une proposition de valeur: compétences centrales avec pris en compte :</a:t>
            </a:r>
          </a:p>
          <a:p>
            <a:pPr lvl="1" marL="633475" indent="-316737" defTabSz="1414236">
              <a:lnSpc>
                <a:spcPct val="100000"/>
              </a:lnSpc>
              <a:spcBef>
                <a:spcPts val="0"/>
              </a:spcBef>
              <a:defRPr sz="2551"/>
            </a:pPr>
            <a:r>
              <a:t>Simplicité</a:t>
            </a:r>
          </a:p>
          <a:p>
            <a:pPr lvl="1" marL="633475" indent="-316737" defTabSz="1414236">
              <a:lnSpc>
                <a:spcPct val="100000"/>
              </a:lnSpc>
              <a:spcBef>
                <a:spcPts val="0"/>
              </a:spcBef>
              <a:defRPr sz="2551"/>
            </a:pPr>
            <a:r>
              <a:t>Economie Circulaire</a:t>
            </a:r>
          </a:p>
          <a:p>
            <a:pPr lvl="1" marL="633475" indent="-316737" defTabSz="1414236">
              <a:lnSpc>
                <a:spcPct val="100000"/>
              </a:lnSpc>
              <a:spcBef>
                <a:spcPts val="0"/>
              </a:spcBef>
              <a:defRPr sz="2551"/>
            </a:pPr>
            <a:r>
              <a:t>Plateformisation</a:t>
            </a:r>
          </a:p>
          <a:p>
            <a:pPr lvl="1" marL="633475" indent="-316737" defTabSz="1414236">
              <a:lnSpc>
                <a:spcPct val="100000"/>
              </a:lnSpc>
              <a:spcBef>
                <a:spcPts val="0"/>
              </a:spcBef>
              <a:defRPr sz="2551"/>
            </a:pPr>
            <a:r>
              <a:t>Les 3 mondes de la data</a:t>
            </a:r>
          </a:p>
          <a:p>
            <a:pPr lvl="1" marL="633475" indent="-316737" defTabSz="1414236">
              <a:lnSpc>
                <a:spcPct val="100000"/>
              </a:lnSpc>
              <a:spcBef>
                <a:spcPts val="0"/>
              </a:spcBef>
              <a:defRPr sz="2551"/>
            </a:pPr>
            <a:r>
              <a:t>Cartes TRAIDA</a:t>
            </a:r>
          </a:p>
          <a:p>
            <a:pPr lvl="1" marL="633475" indent="-316737" defTabSz="1414236">
              <a:lnSpc>
                <a:spcPct val="100000"/>
              </a:lnSpc>
              <a:spcBef>
                <a:spcPts val="0"/>
              </a:spcBef>
              <a:defRPr sz="2551"/>
            </a:pPr>
            <a:r>
              <a:t>Architecture d’entreprise</a:t>
            </a:r>
          </a:p>
          <a:p>
            <a:pPr lvl="1" marL="633475" indent="-316737" defTabSz="1414236">
              <a:lnSpc>
                <a:spcPct val="100000"/>
              </a:lnSpc>
              <a:spcBef>
                <a:spcPts val="0"/>
              </a:spcBef>
              <a:defRPr sz="2551"/>
            </a:pPr>
            <a:r>
              <a:t>Sémantique</a:t>
            </a:r>
          </a:p>
          <a:p>
            <a:pPr lvl="1" marL="633475" indent="-316737" defTabSz="1414236">
              <a:lnSpc>
                <a:spcPct val="100000"/>
              </a:lnSpc>
              <a:spcBef>
                <a:spcPts val="0"/>
              </a:spcBef>
              <a:defRPr sz="2551"/>
            </a:pPr>
            <a:r>
              <a:t>Data Mesh, Data Hub et Data Fabric</a:t>
            </a:r>
          </a:p>
          <a:p>
            <a:pPr lvl="1" marL="633475" indent="-316737" defTabSz="1414236">
              <a:lnSpc>
                <a:spcPct val="100000"/>
              </a:lnSpc>
              <a:spcBef>
                <a:spcPts val="0"/>
              </a:spcBef>
              <a:defRPr sz="2551"/>
            </a:pPr>
            <a:r>
              <a:t>Simplexité</a:t>
            </a:r>
          </a:p>
          <a:p>
            <a:pPr marL="316737" indent="-316737" defTabSz="1414236">
              <a:lnSpc>
                <a:spcPct val="100000"/>
              </a:lnSpc>
              <a:spcBef>
                <a:spcPts val="0"/>
              </a:spcBef>
              <a:defRPr sz="2551"/>
            </a:pPr>
            <a:r>
              <a:t>Nous avons eu une présentation croisée des membres du Groupe organisé par Pierre Louis -activité/compétence avec vidéo enregistrées</a:t>
            </a:r>
          </a:p>
          <a:p>
            <a:pPr marL="0" indent="0" defTabSz="1414236">
              <a:lnSpc>
                <a:spcPct val="100000"/>
              </a:lnSpc>
              <a:spcBef>
                <a:spcPts val="0"/>
              </a:spcBef>
              <a:buSzTx/>
              <a:buNone/>
              <a:defRPr sz="2551"/>
            </a:pPr>
            <a:br/>
            <a:r>
              <a:t>A partir de ces informations, comment produire un synthèse facilitant la mise en commun de ces compétences centrales pour créer des activités communes créant de la valeur pour nos client et de l’activité. Pour ce faire, il y a eu:</a:t>
            </a:r>
          </a:p>
          <a:p>
            <a:pPr marL="559815" indent="-559815" defTabSz="1414236">
              <a:lnSpc>
                <a:spcPct val="100000"/>
              </a:lnSpc>
              <a:spcBef>
                <a:spcPts val="0"/>
              </a:spcBef>
              <a:buClr>
                <a:srgbClr val="000000"/>
              </a:buClr>
              <a:buSzPct val="100000"/>
              <a:buAutoNum type="arabicPeriod" startAt="1"/>
              <a:defRPr sz="2551"/>
            </a:pPr>
            <a:r>
              <a:t>Extraction des textes par Pierre et synthèse</a:t>
            </a:r>
          </a:p>
          <a:p>
            <a:pPr marL="559815" indent="-559815" defTabSz="1414236">
              <a:lnSpc>
                <a:spcPct val="100000"/>
              </a:lnSpc>
              <a:spcBef>
                <a:spcPts val="0"/>
              </a:spcBef>
              <a:buClr>
                <a:srgbClr val="000000"/>
              </a:buClr>
              <a:buSzPct val="100000"/>
              <a:buAutoNum type="arabicPeriod" startAt="1"/>
              <a:defRPr sz="2551"/>
            </a:pPr>
            <a:r>
              <a:t>Extraction de profiles des membres par Pierre en s’aidant d’un LLM, avec catégorisation par sphères du manifeste - approche à valider et finaliser</a:t>
            </a:r>
          </a:p>
          <a:p>
            <a:pPr marL="559815" indent="-559815" defTabSz="1414236">
              <a:lnSpc>
                <a:spcPct val="100000"/>
              </a:lnSpc>
              <a:spcBef>
                <a:spcPts val="0"/>
              </a:spcBef>
              <a:buClr>
                <a:srgbClr val="000000"/>
              </a:buClr>
              <a:buSzPct val="100000"/>
              <a:buAutoNum type="arabicPeriod" startAt="1"/>
              <a:defRPr sz="2551"/>
            </a:pPr>
            <a:r>
              <a:t>Formalisation cartographique par Nicolas, avec proposition de la mise à jour du visuel interactif pour refléter les informations en question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ynthèse des vidéos"/>
          <p:cNvSpPr txBox="1"/>
          <p:nvPr>
            <p:ph type="title"/>
          </p:nvPr>
        </p:nvSpPr>
        <p:spPr>
          <a:prstGeom prst="rect">
            <a:avLst/>
          </a:prstGeom>
        </p:spPr>
        <p:txBody>
          <a:bodyPr/>
          <a:lstStyle/>
          <a:p>
            <a:pPr/>
            <a:r>
              <a:t>Synthèse des vidéos</a:t>
            </a:r>
          </a:p>
        </p:txBody>
      </p:sp>
      <p:sp>
        <p:nvSpPr>
          <p:cNvPr id="159" name="Extraction texte et synthèses via LLM (Pierr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Extraction texte et synthèses via LLM (Pierre)</a:t>
            </a:r>
          </a:p>
        </p:txBody>
      </p:sp>
      <p:sp>
        <p:nvSpPr>
          <p:cNvPr id="160" name="Pour rappel, Pierre a analysé les vidéos et en a extrait: Les profils par personne Les compétences centrales"/>
          <p:cNvSpPr txBox="1"/>
          <p:nvPr/>
        </p:nvSpPr>
        <p:spPr>
          <a:xfrm>
            <a:off x="1346200" y="3651500"/>
            <a:ext cx="21948577" cy="897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l" defTabSz="2438338">
              <a:spcBef>
                <a:spcPts val="2400"/>
              </a:spcBef>
              <a:defRPr sz="4400"/>
            </a:pPr>
            <a:r>
              <a:t>Pour rappel, Pierre a analysé les vidéos et en a extrait:</a:t>
            </a:r>
            <a:br/>
            <a:r>
              <a:t>Les profils par personne</a:t>
            </a:r>
            <a:br/>
            <a:r>
              <a:t>Les compétences centrales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Intégration dans une cartographie OPF"/>
          <p:cNvSpPr txBox="1"/>
          <p:nvPr>
            <p:ph type="title"/>
          </p:nvPr>
        </p:nvSpPr>
        <p:spPr>
          <a:prstGeom prst="rect">
            <a:avLst/>
          </a:prstGeom>
        </p:spPr>
        <p:txBody>
          <a:bodyPr/>
          <a:lstStyle/>
          <a:p>
            <a:pPr/>
            <a:r>
              <a:t>Intégration dans une cartographie OPF</a:t>
            </a:r>
          </a:p>
        </p:txBody>
      </p:sp>
      <p:sp>
        <p:nvSpPr>
          <p:cNvPr id="163" name="Présentation de la capture de l’ensemble des informations OPF dans une cartographie sémantique…"/>
          <p:cNvSpPr txBox="1"/>
          <p:nvPr>
            <p:ph type="body" idx="1"/>
          </p:nvPr>
        </p:nvSpPr>
        <p:spPr>
          <a:prstGeom prst="rect">
            <a:avLst/>
          </a:prstGeom>
        </p:spPr>
        <p:txBody>
          <a:bodyPr/>
          <a:lstStyle/>
          <a:p>
            <a:pPr/>
            <a:r>
              <a:t>Présentation de la capture de l’ensemble des informations OPF dans une cartographie sémantique</a:t>
            </a:r>
          </a:p>
          <a:p>
            <a:pPr/>
            <a:r>
              <a:t>But: constituer une mini base de connaissance et d’analyse légère et ne requièrent pas d’installation d’exécutable ni de serveurs.</a:t>
            </a:r>
          </a:p>
          <a:p>
            <a:pPr/>
            <a:r>
              <a:t>Viewer: file:///Users/nicolasfigay/git/ArchiMateCG/ArchiCG%20Viewer%20and%20Analyzer.html</a:t>
            </a:r>
          </a:p>
          <a:p>
            <a:pPr/>
            <a:r>
              <a:t>Cartographie à télécharger sur sa machine avant de l’ouvrir</a:t>
            </a:r>
          </a:p>
          <a:p>
            <a:pPr marL="0" indent="0">
              <a:buSzTx/>
              <a:buNone/>
            </a:pPr>
            <a:r>
              <a:t>https://nfigay.github.io/manifesteOPF/CartoOPF%202025-06-23.archicg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Mise en Carte"/>
          <p:cNvSpPr txBox="1"/>
          <p:nvPr>
            <p:ph type="title"/>
          </p:nvPr>
        </p:nvSpPr>
        <p:spPr>
          <a:xfrm>
            <a:off x="1219200" y="227990"/>
            <a:ext cx="21945601" cy="1379322"/>
          </a:xfrm>
          <a:prstGeom prst="rect">
            <a:avLst/>
          </a:prstGeom>
        </p:spPr>
        <p:txBody>
          <a:bodyPr/>
          <a:lstStyle>
            <a:lvl1pPr defTabSz="1926336">
              <a:defRPr spc="-66" sz="6636"/>
            </a:lvl1pPr>
          </a:lstStyle>
          <a:p>
            <a:pPr/>
            <a:r>
              <a:t>Mise en Carte </a:t>
            </a:r>
          </a:p>
        </p:txBody>
      </p:sp>
      <p:sp>
        <p:nvSpPr>
          <p:cNvPr id="166" name="En lien avec les Sphères du Manifesto - partageable et visualisable avec ArchiCG"/>
          <p:cNvSpPr txBox="1"/>
          <p:nvPr>
            <p:ph type="body" idx="21"/>
          </p:nvPr>
        </p:nvSpPr>
        <p:spPr>
          <a:xfrm>
            <a:off x="1219200" y="1673744"/>
            <a:ext cx="21945602" cy="555753"/>
          </a:xfrm>
          <a:prstGeom prst="rect">
            <a:avLst/>
          </a:prstGeom>
          <a:extLst>
            <a:ext uri="{C572A759-6A51-4108-AA02-DFA0A04FC94B}">
              <ma14:wrappingTextBoxFlag xmlns:ma14="http://schemas.microsoft.com/office/mac/drawingml/2011/main" val="1"/>
            </a:ext>
          </a:extLst>
        </p:spPr>
        <p:txBody>
          <a:bodyPr/>
          <a:lstStyle>
            <a:lvl1pPr defTabSz="495300">
              <a:defRPr spc="-26" sz="2640"/>
            </a:lvl1pPr>
          </a:lstStyle>
          <a:p>
            <a:pPr/>
            <a:r>
              <a:t>En lien avec les Sphères du Manifesto - partageable et visualisable avec ArchiCG</a:t>
            </a:r>
          </a:p>
        </p:txBody>
      </p:sp>
      <p:sp>
        <p:nvSpPr>
          <p:cNvPr id="167" name="Toutes les personnes membres d’OPF"/>
          <p:cNvSpPr txBox="1"/>
          <p:nvPr/>
        </p:nvSpPr>
        <p:spPr>
          <a:xfrm>
            <a:off x="17660772" y="4992438"/>
            <a:ext cx="5318456"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Toutes les personnes membres d’OPF</a:t>
            </a:r>
          </a:p>
        </p:txBody>
      </p:sp>
      <p:sp>
        <p:nvSpPr>
          <p:cNvPr id="168" name="Pour une personne donnée, capture des profils fournis par Pierre"/>
          <p:cNvSpPr txBox="1"/>
          <p:nvPr/>
        </p:nvSpPr>
        <p:spPr>
          <a:xfrm>
            <a:off x="18121476" y="10012256"/>
            <a:ext cx="3970505" cy="13793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Pour une personne donnée, capture des profils fournis par Pierre</a:t>
            </a:r>
          </a:p>
        </p:txBody>
      </p:sp>
      <p:sp>
        <p:nvSpPr>
          <p:cNvPr id="169" name="La ruche d’expertise"/>
          <p:cNvSpPr txBox="1"/>
          <p:nvPr/>
        </p:nvSpPr>
        <p:spPr>
          <a:xfrm>
            <a:off x="17906527" y="3311435"/>
            <a:ext cx="3970506" cy="5557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La ruche d’expertise</a:t>
            </a:r>
          </a:p>
        </p:txBody>
      </p:sp>
      <p:sp>
        <p:nvSpPr>
          <p:cNvPr id="170" name="Les organisations des membres"/>
          <p:cNvSpPr txBox="1"/>
          <p:nvPr/>
        </p:nvSpPr>
        <p:spPr>
          <a:xfrm>
            <a:off x="17882146" y="4151937"/>
            <a:ext cx="4449166"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Les organisations des membres</a:t>
            </a:r>
          </a:p>
        </p:txBody>
      </p:sp>
      <p:pic>
        <p:nvPicPr>
          <p:cNvPr id="171" name="Image" descr="Image"/>
          <p:cNvPicPr>
            <a:picLocks noChangeAspect="1"/>
          </p:cNvPicPr>
          <p:nvPr/>
        </p:nvPicPr>
        <p:blipFill>
          <a:blip r:embed="rId2">
            <a:extLst/>
          </a:blip>
          <a:stretch>
            <a:fillRect/>
          </a:stretch>
        </p:blipFill>
        <p:spPr>
          <a:xfrm>
            <a:off x="966995" y="2703878"/>
            <a:ext cx="15862301" cy="10109201"/>
          </a:xfrm>
          <a:prstGeom prst="rect">
            <a:avLst/>
          </a:prstGeom>
          <a:ln w="12700">
            <a:miter lim="400000"/>
          </a:ln>
        </p:spPr>
      </p:pic>
      <p:sp>
        <p:nvSpPr>
          <p:cNvPr id="172" name="Les catégorisations des gens sous forme de graphe avec relations entre personnes et éléments du pilier justice"/>
          <p:cNvSpPr txBox="1"/>
          <p:nvPr/>
        </p:nvSpPr>
        <p:spPr>
          <a:xfrm>
            <a:off x="17882146" y="6464419"/>
            <a:ext cx="4449166" cy="17911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Les catégorisations des gens sous forme de graphe avec relations entre personnes et éléments du pilier justice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Ovale"/>
          <p:cNvSpPr/>
          <p:nvPr/>
        </p:nvSpPr>
        <p:spPr>
          <a:xfrm>
            <a:off x="11462212" y="3711139"/>
            <a:ext cx="712116" cy="735774"/>
          </a:xfrm>
          <a:prstGeom prst="ellipse">
            <a:avLst/>
          </a:prstGeom>
          <a:solidFill>
            <a:srgbClr val="000000"/>
          </a:solidFill>
          <a:ln w="12700">
            <a:miter lim="400000"/>
          </a:ln>
        </p:spPr>
        <p:txBody>
          <a:bodyPr lIns="50800" tIns="50800" rIns="50800" bIns="50800" anchor="ctr"/>
          <a:lstStyle/>
          <a:p>
            <a:pPr defTabSz="1130300">
              <a:lnSpc>
                <a:spcPct val="100000"/>
              </a:lnSpc>
              <a:defRPr sz="3200">
                <a:solidFill>
                  <a:srgbClr val="FFFFFF"/>
                </a:solidFill>
                <a:latin typeface="Avenir Next Regular"/>
                <a:ea typeface="Avenir Next Regular"/>
                <a:cs typeface="Avenir Next Regular"/>
                <a:sym typeface="Avenir Next Regular"/>
              </a:defRPr>
            </a:pPr>
          </a:p>
        </p:txBody>
      </p:sp>
      <p:sp>
        <p:nvSpPr>
          <p:cNvPr id="175" name="Ovale"/>
          <p:cNvSpPr/>
          <p:nvPr/>
        </p:nvSpPr>
        <p:spPr>
          <a:xfrm>
            <a:off x="6162647" y="11923431"/>
            <a:ext cx="484364" cy="459625"/>
          </a:xfrm>
          <a:prstGeom prst="ellipse">
            <a:avLst/>
          </a:prstGeom>
          <a:solidFill>
            <a:srgbClr val="000000"/>
          </a:solidFill>
          <a:ln w="12700">
            <a:miter lim="400000"/>
          </a:ln>
        </p:spPr>
        <p:txBody>
          <a:bodyPr lIns="50800" tIns="50800" rIns="50800" bIns="50800" anchor="ctr"/>
          <a:lstStyle/>
          <a:p>
            <a:pPr defTabSz="1130300">
              <a:lnSpc>
                <a:spcPct val="100000"/>
              </a:lnSpc>
              <a:defRPr sz="3200">
                <a:solidFill>
                  <a:srgbClr val="FFFFFF"/>
                </a:solidFill>
                <a:latin typeface="Avenir Next Regular"/>
                <a:ea typeface="Avenir Next Regular"/>
                <a:cs typeface="Avenir Next Regular"/>
                <a:sym typeface="Avenir Next Regular"/>
              </a:defRPr>
            </a:pPr>
          </a:p>
        </p:txBody>
      </p:sp>
      <p:sp>
        <p:nvSpPr>
          <p:cNvPr id="176" name="Mise à jour et extension du visuel du manifeste"/>
          <p:cNvSpPr txBox="1"/>
          <p:nvPr>
            <p:ph type="title"/>
          </p:nvPr>
        </p:nvSpPr>
        <p:spPr>
          <a:prstGeom prst="rect">
            <a:avLst/>
          </a:prstGeom>
        </p:spPr>
        <p:txBody>
          <a:bodyPr/>
          <a:lstStyle/>
          <a:p>
            <a:pPr/>
            <a:r>
              <a:t>Mise à jour et extension du visuel du manifeste</a:t>
            </a:r>
          </a:p>
        </p:txBody>
      </p:sp>
      <p:sp>
        <p:nvSpPr>
          <p:cNvPr id="177" name="Pour intégrer la visualisation des profils et les relations avec le manifest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Pour intégrer la visualisation des profils et les relations avec le manifeste</a:t>
            </a:r>
          </a:p>
        </p:txBody>
      </p:sp>
      <p:pic>
        <p:nvPicPr>
          <p:cNvPr id="178" name="Image" descr="Image"/>
          <p:cNvPicPr>
            <a:picLocks noChangeAspect="1"/>
          </p:cNvPicPr>
          <p:nvPr/>
        </p:nvPicPr>
        <p:blipFill>
          <a:blip r:embed="rId2">
            <a:extLst/>
          </a:blip>
          <a:stretch>
            <a:fillRect/>
          </a:stretch>
        </p:blipFill>
        <p:spPr>
          <a:xfrm>
            <a:off x="826925" y="3641048"/>
            <a:ext cx="9791701" cy="9220201"/>
          </a:xfrm>
          <a:prstGeom prst="rect">
            <a:avLst/>
          </a:prstGeom>
          <a:ln w="12700">
            <a:miter lim="400000"/>
          </a:ln>
        </p:spPr>
      </p:pic>
      <p:cxnSp>
        <p:nvCxnSpPr>
          <p:cNvPr id="179" name="Ligne de connexion"/>
          <p:cNvCxnSpPr>
            <a:stCxn id="175" idx="0"/>
            <a:endCxn id="174" idx="0"/>
          </p:cNvCxnSpPr>
          <p:nvPr/>
        </p:nvCxnSpPr>
        <p:spPr>
          <a:xfrm flipV="1">
            <a:off x="6404828" y="4079026"/>
            <a:ext cx="5413443" cy="8074218"/>
          </a:xfrm>
          <a:prstGeom prst="straightConnector1">
            <a:avLst/>
          </a:prstGeom>
          <a:ln w="25400">
            <a:solidFill>
              <a:srgbClr val="000000"/>
            </a:solidFill>
            <a:miter lim="400000"/>
          </a:ln>
        </p:spPr>
      </p:cxnSp>
      <p:sp>
        <p:nvSpPr>
          <p:cNvPr id="180" name="Déclencheur pour liste s’affichant dans le panneau de définition, d’organisation ou de domaine selon le terme cliqué…"/>
          <p:cNvSpPr txBox="1"/>
          <p:nvPr>
            <p:ph type="body" sz="half" idx="1"/>
          </p:nvPr>
        </p:nvSpPr>
        <p:spPr>
          <a:xfrm>
            <a:off x="11057937" y="3656138"/>
            <a:ext cx="12110412" cy="8810871"/>
          </a:xfrm>
          <a:prstGeom prst="rect">
            <a:avLst/>
          </a:prstGeom>
          <a:solidFill>
            <a:srgbClr val="FFFFFF"/>
          </a:solidFill>
        </p:spPr>
        <p:txBody>
          <a:bodyPr/>
          <a:lstStyle/>
          <a:p>
            <a:pPr marL="431419" indent="-431419" defTabSz="1926287">
              <a:spcBef>
                <a:spcPts val="1800"/>
              </a:spcBef>
              <a:defRPr sz="3476"/>
            </a:pPr>
            <a:r>
              <a:t>Déclencheur pour liste s’affichant dans le panneau de définition, d’organisation ou de domaine selon le terme cliqué</a:t>
            </a:r>
          </a:p>
          <a:p>
            <a:pPr marL="431419" indent="-431419" defTabSz="1926287">
              <a:spcBef>
                <a:spcPts val="1800"/>
              </a:spcBef>
              <a:defRPr sz="3476"/>
            </a:pPr>
            <a:r>
              <a:t>Dans cette liste, cliquer sur une personne la fait apparaitre en bas à  gauche du visuel, avec des liens vers les éléments du manifeste quand ils existent</a:t>
            </a:r>
          </a:p>
          <a:p>
            <a:pPr marL="431419" indent="-431419" defTabSz="1926287">
              <a:spcBef>
                <a:spcPts val="1800"/>
              </a:spcBef>
              <a:defRPr sz="3476"/>
            </a:pPr>
            <a:r>
              <a:t>aller sur le lien fait apparaitre la justification du lien comme créée par Pierre</a:t>
            </a:r>
          </a:p>
          <a:p>
            <a:pPr marL="0" indent="0" defTabSz="1926287">
              <a:spcBef>
                <a:spcPts val="1800"/>
              </a:spcBef>
              <a:buSzTx/>
              <a:buNone/>
              <a:defRPr sz="3476"/>
            </a:pPr>
            <a:r>
              <a:t>Lancer les modifications si agréer: dépendra mise à jour des informations par chaque personne pour ce qui le concerne.</a:t>
            </a:r>
          </a:p>
          <a:p>
            <a:pPr marL="0" indent="0" defTabSz="1926287">
              <a:spcBef>
                <a:spcPts val="1800"/>
              </a:spcBef>
              <a:buSzTx/>
              <a:buNone/>
              <a:defRPr sz="3476"/>
            </a:pPr>
            <a:r>
              <a:t>Au final, données textuelles, carte et visuels sont alignés de manière cohérente.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A produire par l’équipe"/>
          <p:cNvSpPr txBox="1"/>
          <p:nvPr>
            <p:ph type="title"/>
          </p:nvPr>
        </p:nvSpPr>
        <p:spPr>
          <a:prstGeom prst="rect">
            <a:avLst/>
          </a:prstGeom>
        </p:spPr>
        <p:txBody>
          <a:bodyPr/>
          <a:lstStyle/>
          <a:p>
            <a:pPr/>
            <a:r>
              <a:t>A produire par l’équipe</a:t>
            </a:r>
          </a:p>
        </p:txBody>
      </p:sp>
      <p:sp>
        <p:nvSpPr>
          <p:cNvPr id="183" name="Validation de ce qui a été produit: utilité, pertinence … propositions de changement…"/>
          <p:cNvSpPr txBox="1"/>
          <p:nvPr>
            <p:ph type="body" idx="1"/>
          </p:nvPr>
        </p:nvSpPr>
        <p:spPr>
          <a:prstGeom prst="rect">
            <a:avLst/>
          </a:prstGeom>
        </p:spPr>
        <p:txBody>
          <a:bodyPr/>
          <a:lstStyle/>
          <a:p>
            <a:pPr marL="496951" indent="-496951" defTabSz="2218888">
              <a:spcBef>
                <a:spcPts val="2100"/>
              </a:spcBef>
              <a:defRPr sz="4004"/>
            </a:pPr>
            <a:r>
              <a:t>Validation de ce qui a été produit: utilité, pertinence … propositions de changement</a:t>
            </a:r>
          </a:p>
          <a:p>
            <a:pPr marL="496951" indent="-496951" defTabSz="2218888">
              <a:spcBef>
                <a:spcPts val="2100"/>
              </a:spcBef>
              <a:defRPr sz="4004"/>
            </a:pPr>
            <a:r>
              <a:t>Action corrective par les partenaires pour ce qui les concerne: pour ce qui est accepté, chacun valide ce qui le concerne</a:t>
            </a:r>
          </a:p>
          <a:p>
            <a:pPr marL="496951" indent="-496951" defTabSz="2218888">
              <a:spcBef>
                <a:spcPts val="2100"/>
              </a:spcBef>
              <a:defRPr sz="4004"/>
            </a:pPr>
            <a:r>
              <a:t>Puis mise mise à jour carte et visuel</a:t>
            </a:r>
          </a:p>
          <a:p>
            <a:pPr marL="496951" indent="-496951" defTabSz="2218888">
              <a:spcBef>
                <a:spcPts val="2100"/>
              </a:spcBef>
              <a:defRPr sz="4004"/>
            </a:pPr>
            <a:r>
              <a:t>Mise en commun pour les membres d’OPF et vers l’extérieur ( à définir et agréer) - sur site OPF mis en place par Cédric.</a:t>
            </a:r>
          </a:p>
          <a:p>
            <a:pPr marL="496951" indent="-496951" defTabSz="2218888">
              <a:spcBef>
                <a:spcPts val="2100"/>
              </a:spcBef>
              <a:defRPr sz="4004"/>
            </a:pPr>
          </a:p>
          <a:p>
            <a:pPr marL="0" indent="0" defTabSz="2218888">
              <a:spcBef>
                <a:spcPts val="2100"/>
              </a:spcBef>
              <a:buSzTx/>
              <a:buNone/>
              <a:defRPr sz="4004"/>
            </a:pPr>
            <a:r>
              <a:t>Plusieurs partenaires ont des outils qui pourraient être utilisé pour une base de connaissance - opportun de prendre OPF comme use case - usage interne pour apprendre/comprendre, illustration du cas OPF pour leurs solutions à l’extérieur.</a:t>
            </a:r>
          </a:p>
        </p:txBody>
      </p:sp>
      <p:sp>
        <p:nvSpPr>
          <p:cNvPr id="184" name="durant le meeting"/>
          <p:cNvSpPr txBox="1"/>
          <p:nvPr>
            <p:ph type="body" idx="21"/>
          </p:nvPr>
        </p:nvSpPr>
        <p:spPr>
          <a:xfrm>
            <a:off x="1219200" y="2384648"/>
            <a:ext cx="21945602" cy="1128347"/>
          </a:xfrm>
          <a:prstGeom prst="rect">
            <a:avLst/>
          </a:prstGeom>
          <a:extLst>
            <a:ext uri="{C572A759-6A51-4108-AA02-DFA0A04FC94B}">
              <ma14:wrappingTextBoxFlag xmlns:ma14="http://schemas.microsoft.com/office/mac/drawingml/2011/main" val="1"/>
            </a:ext>
          </a:extLst>
        </p:spPr>
        <p:txBody>
          <a:bodyPr/>
          <a:lstStyle>
            <a:lvl1pPr defTabSz="825500">
              <a:defRPr spc="-44" sz="4400"/>
            </a:lvl1pPr>
          </a:lstStyle>
          <a:p>
            <a:pPr/>
            <a:r>
              <a:t>durant le meeting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